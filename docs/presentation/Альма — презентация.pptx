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howGuides="1">
      <p:cViewPr varScale="1">
        <p:scale>
          <a:sx n="113" d="100"/>
          <a:sy n="113" d="100"/>
        </p:scale>
        <p:origin x="616" y="17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Цифры слайда сняты с кода 16.10.2026, коммит 06fc4e6.</a:t>
            </a:r>
          </a:p>
          <a:p>
            <a:r>
              <a:t>Методы API: 157 операций в OpenAPI /api/v1 (app.openapi(), GET/POST/PUT/PATCH/DELETE); на 29.09 было 135.</a:t>
            </a:r>
          </a:p>
          <a:p>
            <a:r>
              <a:t>Автотесты: pytest --collect-only с параметризациями — backend 1 791, служба уведомлений 82, заглушки LMS и CMS 20 + 16; node:test во frontend — 62. Итого 1 971.</a:t>
            </a:r>
          </a:p>
          <a:p>
            <a:r>
              <a:t>300+ пользователей: k6, полка 300 VU и пик 400 VU, p95 90,7 мс, ошибок 0,28 % (docs/evidence/load-report.md).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517D75-5C25-5334-B8EA-D5B29D84D7EA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D2238-25F6-F084-F194-B08C82005CBD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DA9EC-F428-112D-3923-9BEBB546110F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45DB5B-E701-05DA-6136-5E1841474FF3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Сделано после экспертной сессии 16.10 — ответы на вопросы экспертов.</a:t>
            </a:r>
          </a:p>
          <a:p>
            <a:r>
              <a:t>Отчёт «Активность КАМов»: какой КАМ, за какой период, с какими вузами и на каком этапе остановился; вкладки «Детализация» (руководителю КАМов) и «Сводка для заказчика», выгрузка XLSX и PDF.</a:t>
            </a:r>
          </a:p>
          <a:p>
            <a:r>
              <a:t>Роли и права в БД: 61 право, 18 с областью B2B/B2C, 4 базовые роли и свои (на демо — «КАМ B2C»).</a:t>
            </a:r>
          </a:p>
          <a:p>
            <a:r>
              <a:t>Перевод заявок: docs/evidence/migration-benchmark.md, 16.10.2026, медиана трёх прогонов — лок 0,59 с на 10 000 заявок и 2,9 с на 50 000; поштучно в той же среде — 25,1 с и 130,4 с. Параллельный переход ждёт и проходит, без deadlock; сводка — одна на КАМа.</a:t>
            </a:r>
          </a:p>
          <a:p>
            <a:r>
              <a:t>Поправка к ответу на Q&amp;A 16.10: блокировка при переводе есть — эксклюзивный advisory-лок процесса; переходы ждут его не дольше 10 с, затем 409 workflow_busy с Retry-After.</a:t>
            </a:r>
          </a:p>
          <a:p>
            <a:r>
              <a:t>Idempotency-Key: повтор с тем же ключом в течение 24 ч возвращает сохранённый ответ (Idempotent-Replayed: true). KeyDB Streams убран из транспорта интеграций: outbox в PostgreSQL, HTTP + HMAC, повторы и DLQ.</a:t>
            </a:r>
          </a:p>
          <a:p>
            <a:r>
              <a:t>ИИ-агента не делаем — по совету экспертов фокус на аналитике.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  <p:txBody>
          <a:bodyPr/>
          <a:lstStyle/>
          <a:p>
            <a:endParaRPr lang="en-CZ"/>
          </a:p>
        </p:txBody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  <p:txBody>
          <a:bodyPr/>
          <a:lstStyle/>
          <a:p>
            <a:endParaRPr lang="en-CZ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en-CZ"/>
          </a:p>
        </p:txBody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en-CZ"/>
          </a:p>
        </p:txBody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en-CZ"/>
          </a:p>
        </p:txBody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en-CZ"/>
          </a:p>
        </p:txBody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en-CZ"/>
          </a:p>
        </p:txBody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github.com/ilya2108/Collabse-LCT-Al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spcAft>
                <a:spcPts val="600"/>
              </a:spcAft>
              <a:buNone/>
            </a:pPr>
            <a:r>
              <a:rPr lang="ru-RU" sz="4800" b="1" dirty="0">
                <a:solidFill>
                  <a:schemeClr val="bg1"/>
                </a:solidFill>
              </a:rPr>
              <a:t>АЛЬМА</a:t>
            </a:r>
          </a:p>
          <a:p>
            <a:pPr marL="268288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CRM ВЗАИМОДЕЙСТВИЯ С ВУЗАМИ</a:t>
            </a: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marL="268288" indent="0">
              <a:spcAft>
                <a:spcPts val="300"/>
              </a:spcAft>
              <a:buNone/>
            </a:pPr>
            <a:r>
              <a:rPr lang="ru-RU" sz="1400" b="1" dirty="0">
                <a:solidFill>
                  <a:schemeClr val="bg1"/>
                </a:solidFill>
              </a:rPr>
              <a:t>Команда «Collabse» · ЛЦТ 2026</a:t>
            </a:r>
          </a:p>
          <a:p>
            <a:pPr marL="268288" indent="0">
              <a:buNone/>
            </a:pPr>
            <a:r>
              <a:rPr lang="ru-RU" sz="1200" dirty="0">
                <a:solidFill>
                  <a:schemeClr val="bg1"/>
                </a:solidFill>
              </a:rPr>
              <a:t>Задача: CRM-система взаимодействия с вузами · Постановщик — ООО «Ростелеком Информационные Технологии»</a:t>
            </a: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901" name="Логотип Ростелеко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86" y="329801"/>
            <a:ext cx="28647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396000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6516000" y="4250028"/>
            <a:ext cx="1952713" cy="1624612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500"/>
              </a:spcAft>
              <a:buNone/>
            </a:pPr>
            <a:r>
              <a:rPr lang="ru-RU" sz="1000" b="1" dirty="0">
                <a:solidFill>
                  <a:srgbClr val="F92571"/>
                </a:solidFill>
              </a:rPr>
              <a:t>Аналитика, </a:t>
            </a:r>
            <a:r>
              <a:rPr lang="en-US" sz="1000" b="1" dirty="0">
                <a:solidFill>
                  <a:srgbClr val="F92571"/>
                </a:solidFill>
              </a:rPr>
              <a:t>интерфейсы, </a:t>
            </a:r>
            <a:r>
              <a:rPr lang="ru-RU" sz="1000" b="1" dirty="0">
                <a:solidFill>
                  <a:srgbClr val="F92571"/>
                </a:solidFill>
              </a:rPr>
              <a:t>методология</a:t>
            </a:r>
          </a:p>
          <a:p>
            <a:pPr marL="0" indent="0" algn="ctr">
              <a:spcAft>
                <a:spcPts val="500"/>
              </a:spcAft>
              <a:buNone/>
            </a:pPr>
            <a:r>
              <a:rPr lang="en-US" sz="900" dirty="0" err="1">
                <a:solidFill>
                  <a:srgbClr val="1C1D22"/>
                </a:solidFill>
              </a:rPr>
              <a:t>toma@addit.ru</a:t>
            </a:r>
            <a:endParaRPr lang="ru-RU" sz="900" dirty="0">
              <a:solidFill>
                <a:srgbClr val="1C1D22"/>
              </a:solidFill>
            </a:endParaRPr>
          </a:p>
          <a:p>
            <a:pPr marL="0" indent="0" algn="ctr">
              <a:spcAft>
                <a:spcPts val="500"/>
              </a:spcAft>
              <a:buNone/>
            </a:pPr>
            <a:r>
              <a:rPr lang="en-US" sz="900" dirty="0">
                <a:solidFill>
                  <a:srgbClr val="1C1D22"/>
                </a:solidFill>
              </a:rPr>
              <a:t>@TomaSin (TG)</a:t>
            </a:r>
            <a:endParaRPr lang="ru-RU" sz="900" dirty="0">
              <a:solidFill>
                <a:srgbClr val="1C1D22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6516000" y="3622118"/>
            <a:ext cx="1952713" cy="627910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400" b="1" dirty="0">
                <a:solidFill>
                  <a:srgbClr val="1C1D22"/>
                </a:solidFill>
              </a:rPr>
              <a:t>Тамара Рябухина</a:t>
            </a:r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603287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160231E-1D93-4E11-267A-6DC0F7149F5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1" b="4931"/>
          <a:stretch>
            <a:fillRect/>
          </a:stretch>
        </p:blipFill>
        <p:spPr bwMode="auto">
          <a:xfrm>
            <a:off x="3838236" y="1816100"/>
            <a:ext cx="1722438" cy="1552575"/>
          </a:xfrm>
          <a:prstGeom prst="rect">
            <a:avLst/>
          </a:prstGeom>
        </p:spPr>
      </p:pic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53C99D1-70E4-53B9-293B-346F2BB0BFF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3" b="5253"/>
          <a:stretch>
            <a:fillRect/>
          </a:stretch>
        </p:blipFill>
        <p:spPr bwMode="auto">
          <a:xfrm>
            <a:off x="6630681" y="1827213"/>
            <a:ext cx="1722438" cy="1541462"/>
          </a:xfrm>
          <a:prstGeom prst="rect">
            <a:avLst/>
          </a:prstGeo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КОМАНДА «COLLABSE»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3723287" y="4250028"/>
            <a:ext cx="1952713" cy="1624612"/>
          </a:xfrm>
        </p:spPr>
        <p:txBody>
          <a:bodyPr wrap="square">
            <a:norm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ru-RU" sz="1000" b="1" dirty="0">
                <a:solidFill>
                  <a:srgbClr val="F92571"/>
                </a:solidFill>
              </a:rPr>
              <a:t>Капитан · разработка полного цикла, архитектура</a:t>
            </a:r>
          </a:p>
          <a:p>
            <a:pPr marL="0" indent="0" algn="ctr">
              <a:spcAft>
                <a:spcPts val="500"/>
              </a:spcAft>
              <a:buNone/>
            </a:pPr>
            <a:r>
              <a:rPr lang="ru-RU" sz="850" dirty="0">
                <a:solidFill>
                  <a:srgbClr val="1C1D22"/>
                </a:solidFill>
              </a:rPr>
              <a:t>ryabukhiny1305@gmail.com</a:t>
            </a:r>
          </a:p>
          <a:p>
            <a:pPr marL="0" indent="0" algn="ctr">
              <a:spcAft>
                <a:spcPts val="500"/>
              </a:spcAft>
              <a:buNone/>
            </a:pPr>
            <a:r>
              <a:rPr lang="en-US" sz="900" dirty="0">
                <a:solidFill>
                  <a:srgbClr val="1C1D22"/>
                </a:solidFill>
              </a:rPr>
              <a:t>@ilya_2108 (TG)</a:t>
            </a:r>
            <a:endParaRPr lang="ru-RU" sz="900" dirty="0">
              <a:solidFill>
                <a:srgbClr val="1C1D22"/>
              </a:solidFill>
            </a:endParaRPr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3723287" y="3622118"/>
            <a:ext cx="1952713" cy="627910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400" b="1" dirty="0">
                <a:solidFill>
                  <a:srgbClr val="1C1D22"/>
                </a:solidFill>
              </a:rPr>
              <a:t>Илья Рябухин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ЗАДАЧА И БОЛЬ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9800000" cy="934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История взаимодействия с вузами разбросана по файлам и почте — единого процесса нет, статусы теряются.</a:t>
            </a: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8600000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dirty="0">
                <a:solidFill>
                  <a:srgbClr val="1C1D22"/>
                </a:solidFill>
              </a:rPr>
              <a:t>Боль: КАМы ведут вузы в таблицах</a:t>
            </a: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980000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Двусторонние интеграции с LMS и CMS-сайтом, 152-ФЗ для персональных данных, работа в закрытом контуре.</a:t>
            </a: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7" y="4571473"/>
            <a:ext cx="8600000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dirty="0">
                <a:solidFill>
                  <a:srgbClr val="1C1D22"/>
                </a:solidFill>
              </a:rPr>
              <a:t>Жёсткие требования контура</a:t>
            </a: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98000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Один настраиваемый процесс для вузов (B2B) и для физических и юридических лиц (B2C) — в одной системе.</a:t>
            </a: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8600000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dirty="0">
                <a:solidFill>
                  <a:srgbClr val="1C1D22"/>
                </a:solidFill>
              </a:rPr>
              <a:t>Нужен единый процесс для B2B и B2C</a:t>
            </a: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63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046076" y="1522006"/>
            <a:ext cx="2550000" cy="225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346076" y="3922006"/>
            <a:ext cx="2550000" cy="225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3046076" y="3922006"/>
            <a:ext cx="2550000" cy="225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550000" cy="225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1076" y="2192006"/>
            <a:ext cx="2200000" cy="360000"/>
          </a:xfrm>
        </p:spPr>
        <p:txBody>
          <a:bodyPr/>
          <a:lstStyle/>
          <a:p>
            <a:pPr marL="0" indent="0">
              <a:buNone/>
            </a:pPr>
            <a:r>
              <a:rPr lang="ru-RU" sz="1200" b="1" dirty="0">
                <a:solidFill>
                  <a:srgbClr val="F92571"/>
                </a:solidFill>
              </a:rPr>
              <a:t>методов REST API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1076" y="2572006"/>
            <a:ext cx="2200000" cy="1150000"/>
          </a:xfrm>
        </p:spPr>
        <p:txBody>
          <a:bodyPr/>
          <a:lstStyle/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единый API: интерфейс, бот, интеграции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221076" y="2192006"/>
            <a:ext cx="2200000" cy="360000"/>
          </a:xfrm>
        </p:spPr>
        <p:txBody>
          <a:bodyPr/>
          <a:lstStyle/>
          <a:p>
            <a:pPr marL="0" indent="0">
              <a:buNone/>
            </a:pPr>
            <a:r>
              <a:rPr lang="ru-RU" sz="1200" b="1" dirty="0">
                <a:solidFill>
                  <a:srgbClr val="F92571"/>
                </a:solidFill>
              </a:rPr>
              <a:t>автотестов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221076" y="2572006"/>
            <a:ext cx="2200000" cy="1150000"/>
          </a:xfrm>
        </p:spPr>
        <p:txBody>
          <a:bodyPr/>
          <a:lstStyle/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pytest и node:test; в CI — на настоящем PostgreSQL 16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521076" y="4592006"/>
            <a:ext cx="2200000" cy="360000"/>
          </a:xfrm>
        </p:spPr>
        <p:txBody>
          <a:bodyPr/>
          <a:lstStyle/>
          <a:p>
            <a:pPr marL="0" indent="0">
              <a:buNone/>
            </a:pPr>
            <a:r>
              <a:rPr lang="ru-RU" sz="1200" b="1" dirty="0">
                <a:solidFill>
                  <a:srgbClr val="F92571"/>
                </a:solidFill>
              </a:rPr>
              <a:t>воронки</a:t>
            </a: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521076" y="4972006"/>
            <a:ext cx="2200000" cy="1150000"/>
          </a:xfrm>
        </p:spPr>
        <p:txBody>
          <a:bodyPr/>
          <a:lstStyle/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B2B (вузы) и B2C — в одной системе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3221076" y="4592006"/>
            <a:ext cx="2200000" cy="360000"/>
          </a:xfrm>
        </p:spPr>
        <p:txBody>
          <a:bodyPr/>
          <a:lstStyle/>
          <a:p>
            <a:pPr marL="0" indent="0">
              <a:buNone/>
            </a:pPr>
            <a:r>
              <a:rPr lang="ru-RU" sz="1200" b="1" dirty="0">
                <a:solidFill>
                  <a:srgbClr val="F92571"/>
                </a:solidFill>
              </a:rPr>
              <a:t>пользователей</a:t>
            </a: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3221076" y="4972006"/>
            <a:ext cx="2200000" cy="1150000"/>
          </a:xfrm>
        </p:spPr>
        <p:txBody>
          <a:bodyPr/>
          <a:lstStyle/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одновременно; подтверждено k6</a:t>
            </a: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АЛЬМА — CRM С ДВИЖКОМ ПРОЦЕССОВ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1076" y="1672006"/>
            <a:ext cx="2200000" cy="500000"/>
          </a:xfrm>
        </p:spPr>
        <p:txBody>
          <a:bodyPr/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5"/>
                </a:solidFill>
              </a:rPr>
              <a:t>150+</a:t>
            </a: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221076" y="1672006"/>
            <a:ext cx="2200000" cy="500000"/>
          </a:xfrm>
        </p:spPr>
        <p:txBody>
          <a:bodyPr/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5"/>
                </a:solidFill>
              </a:rPr>
              <a:t>1 900+</a:t>
            </a: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21076" y="4072006"/>
            <a:ext cx="2200000" cy="500000"/>
          </a:xfrm>
        </p:spPr>
        <p:txBody>
          <a:bodyPr/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5"/>
                </a:solidFill>
              </a:rPr>
              <a:t>2</a:t>
            </a: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3221076" y="4072006"/>
            <a:ext cx="2200000" cy="500000"/>
          </a:xfrm>
        </p:spPr>
        <p:txBody>
          <a:bodyPr/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5"/>
                </a:solidFill>
              </a:rPr>
              <a:t>300+</a:t>
            </a:r>
          </a:p>
        </p:txBody>
      </p:sp>
      <p:pic>
        <p:nvPicPr>
          <p:cNvPr id="910" name="Скриншот дашборд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00" y="1900000"/>
            <a:ext cx="5945924" cy="3716203"/>
          </a:xfrm>
          <a:prstGeom prst="roundRect">
            <a:avLst>
              <a:gd name="adj" fmla="val 3500"/>
            </a:avLst>
          </a:prstGeom>
          <a:ln w="12700">
            <a:solidFill>
              <a:srgbClr val="FFFFFF"/>
            </a:solidFill>
          </a:ln>
        </p:spPr>
      </p:pic>
      <p:sp>
        <p:nvSpPr>
          <p:cNvPr id="911" name="Подпись дашборда"/>
          <p:cNvSpPr txBox="1"/>
          <p:nvPr/>
        </p:nvSpPr>
        <p:spPr>
          <a:xfrm>
            <a:off x="5900000" y="5730000"/>
            <a:ext cx="5945924" cy="300000"/>
          </a:xfrm>
          <a:prstGeom prst="rect">
            <a:avLst/>
          </a:prstGeom>
          <a:noFill/>
        </p:spPr>
        <p:txBody>
          <a:bodyPr rtlCol="0" anchor="t">
            <a:normAutofit/>
          </a:bodyPr>
          <a:lstStyle/>
          <a:p>
            <a:pPr marL="0" indent="0" algn="ctr">
              <a:buNone/>
            </a:pPr>
            <a:r>
              <a:rPr lang="ru-RU" sz="1000" i="1" dirty="0">
                <a:solidFill>
                  <a:schemeClr val="bg1"/>
                </a:solidFill>
              </a:rPr>
              <a:t>Живой стенд: аналитическая панель Альмы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595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Визуальный конструктор процессов</a:t>
            </a:r>
          </a:p>
          <a:p>
            <a:pPr marL="171450" indent="-171450" algn="l">
              <a:spcAft>
                <a:spcPts val="600"/>
              </a:spcAft>
              <a:buClr>
                <a:srgbClr val="F92571"/>
              </a:buClr>
              <a:buChar char="•"/>
            </a:pPr>
            <a:r>
              <a:rPr lang="ru-RU" sz="1200" dirty="0">
                <a:solidFill>
                  <a:srgbClr val="1C1D22"/>
                </a:solidFill>
              </a:rPr>
              <a:t>Процесс настраивается без кода: ветвления, возвраты, свои статусы.</a:t>
            </a:r>
          </a:p>
          <a:p>
            <a:pPr marL="171450" indent="-171450" algn="l">
              <a:spcAft>
                <a:spcPts val="600"/>
              </a:spcAft>
              <a:buClr>
                <a:srgbClr val="F92571"/>
              </a:buClr>
              <a:buChar char="•"/>
            </a:pPr>
            <a:r>
              <a:rPr lang="ru-RU" sz="1200" dirty="0">
                <a:solidFill>
                  <a:srgbClr val="1C1D22"/>
                </a:solidFill>
              </a:rPr>
              <a:t>Схему можно менять на живых заявках: безопасная миграция с подтверждением администратора.</a:t>
            </a:r>
          </a:p>
          <a:p>
            <a:pPr marL="171450" indent="-171450" algn="l">
              <a:spcAft>
                <a:spcPts val="900"/>
              </a:spcAft>
              <a:buClr>
                <a:srgbClr val="F92571"/>
              </a:buClr>
              <a:buChar char="•"/>
            </a:pPr>
            <a:r>
              <a:rPr lang="ru-RU" sz="1200" dirty="0">
                <a:solidFill>
                  <a:srgbClr val="1C1D22"/>
                </a:solidFill>
              </a:rPr>
              <a:t>Заявки не теряются и не зависают между версиями схемы.</a:t>
            </a:r>
          </a:p>
          <a:p>
            <a:pPr marL="0" indent="0" algn="l">
              <a:buNone/>
            </a:pPr>
            <a:r>
              <a:rPr lang="ru-RU" sz="1600" b="1" dirty="0">
                <a:solidFill>
                  <a:srgbClr val="F92571"/>
                </a:solidFill>
              </a:rPr>
              <a:t>«Работа не встаёт»</a:t>
            </a: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Доска заявок с ролевой моделью</a:t>
            </a:r>
            <a:r>
              <a:rPr lang="ru-RU" sz="1200" dirty="0">
                <a:solidFill>
                  <a:srgbClr val="1C1D22"/>
                </a:solidFill>
              </a:rPr>
              <a:t> — роли и права настраиваются в интерфейсе, вход через Keycloak в контуре</a:t>
            </a: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Импорт XLS / XLSX / CSV / JSON</a:t>
            </a:r>
            <a:r>
              <a:rPr lang="ru-RU" sz="1200" dirty="0">
                <a:solidFill>
                  <a:srgbClr val="1C1D22"/>
                </a:solidFill>
              </a:rPr>
              <a:t> — интерактивное сопоставление колонок</a:t>
            </a: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Лечение битых кодировок</a:t>
            </a:r>
            <a:r>
              <a:rPr lang="ru-RU" sz="1200" dirty="0">
                <a:solidFill>
                  <a:srgbClr val="1C1D22"/>
                </a:solidFill>
              </a:rPr>
              <a:t> — cp1251, koi8-r, cp866</a:t>
            </a: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Аналитические панели ECharts</a:t>
            </a:r>
            <a:r>
              <a:rPr lang="ru-RU" sz="1200" dirty="0">
                <a:solidFill>
                  <a:srgbClr val="1C1D22"/>
                </a:solidFill>
              </a:rPr>
              <a:t> — интерактивные, с экспортом</a:t>
            </a: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Комментарии и уведомления</a:t>
            </a:r>
            <a:r>
              <a:rPr lang="ru-RU" sz="1200" dirty="0">
                <a:solidFill>
                  <a:srgbClr val="1C1D22"/>
                </a:solidFill>
              </a:rPr>
              <a:t> — настраиваются, прямо в карточке заявки</a:t>
            </a: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КЛЮЧЕВЫЕ ВОЗМОЖНОСТИ АЛЬМЫ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660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6" y="5330000"/>
            <a:ext cx="2200000" cy="34000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100" b="1" dirty="0">
                <a:solidFill>
                  <a:srgbClr val="F92571"/>
                </a:solidFill>
              </a:rPr>
              <a:t>Импорт списков</a:t>
            </a: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6" y="5690000"/>
            <a:ext cx="2200000" cy="85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тем же мастером: сопоставление и кодировки</a:t>
            </a: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5026076" y="5330000"/>
            <a:ext cx="2200000" cy="34000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100" b="1" dirty="0">
                <a:solidFill>
                  <a:srgbClr val="F92571"/>
                </a:solidFill>
              </a:rPr>
              <a:t>ПДн под 152-ФЗ</a:t>
            </a: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5026076" y="5690000"/>
            <a:ext cx="2200000" cy="85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Fernet + слепой HMAC-индекс для поиска</a:t>
            </a: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706076" y="5330000"/>
            <a:ext cx="2200000" cy="34000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100" b="1" dirty="0">
                <a:solidFill>
                  <a:srgbClr val="F92571"/>
                </a:solidFill>
              </a:rPr>
              <a:t>Расписание</a:t>
            </a: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706076" y="5690000"/>
            <a:ext cx="2200000" cy="85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активности и федпроекты сквозно</a:t>
            </a: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686076" y="5330000"/>
            <a:ext cx="2200000" cy="34000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100" b="1" dirty="0">
                <a:solidFill>
                  <a:srgbClr val="F92571"/>
                </a:solidFill>
              </a:rPr>
              <a:t>Маскирование ПДн</a:t>
            </a: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686076" y="5690000"/>
            <a:ext cx="2200000" cy="85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раскрытие на 60 секунд — только под аудит</a:t>
            </a: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366076" y="5330000"/>
            <a:ext cx="2200000" cy="34000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100" b="1" dirty="0">
                <a:solidFill>
                  <a:srgbClr val="F92571"/>
                </a:solidFill>
              </a:rPr>
              <a:t>Воронка с перетаскиванием</a:t>
            </a: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366076" y="5690000"/>
            <a:ext cx="2200000" cy="85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кандидат → обучается → выпускник → пул талантов</a:t>
            </a: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ПУЛ ТАЛАНТОВ — ВОРОНКА СТУДЕНТОВ</a:t>
            </a:r>
          </a:p>
        </p:txBody>
      </p:sp>
      <p:pic>
        <p:nvPicPr>
          <p:cNvPr id="913" name="Скриншот talent pool"/>
          <p:cNvPicPr>
            <a:picLocks noChangeAspect="1"/>
          </p:cNvPicPr>
          <p:nvPr/>
        </p:nvPicPr>
        <p:blipFill>
          <a:blip r:embed="rId4"/>
          <a:srcRect b="45000"/>
          <a:stretch>
            <a:fillRect/>
          </a:stretch>
        </p:blipFill>
        <p:spPr>
          <a:xfrm>
            <a:off x="346076" y="1180000"/>
            <a:ext cx="11499848" cy="3953000"/>
          </a:xfrm>
          <a:prstGeom prst="roundRect">
            <a:avLst>
              <a:gd name="adj" fmla="val 2500"/>
            </a:avLst>
          </a:prstGeom>
          <a:ln w="12700">
            <a:solidFill>
              <a:srgbClr val="E5E7E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44520" name="Скругленный прямоугольник 2"/>
          <p:cNvSpPr/>
          <p:nvPr/>
        </p:nvSpPr>
        <p:spPr bwMode="auto">
          <a:xfrm>
            <a:off x="346075" y="324562"/>
            <a:ext cx="270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80146116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 b="1" dirty="0">
                <a:solidFill>
                  <a:schemeClr val="accent5"/>
                </a:solidFill>
              </a:rPr>
              <a:t>Авторизация через Keycloak</a:t>
            </a:r>
          </a:p>
        </p:txBody>
      </p:sp>
      <p:sp>
        <p:nvSpPr>
          <p:cNvPr id="867742702" name="Текст 4"/>
          <p:cNvSpPr>
            <a:spLocks noGrp="1"/>
          </p:cNvSpPr>
          <p:nvPr>
            <p:ph type="body" sz="quarter" idx="18"/>
          </p:nvPr>
        </p:nvSpPr>
        <p:spPr bwMode="auto"/>
        <p:txBody>
          <a:bodyPr/>
          <a:lstStyle/>
          <a:p>
            <a:pPr marL="0" indent="0">
              <a:buNone/>
            </a:pPr>
            <a:r>
              <a:rPr lang="ru-RU" sz="1150" dirty="0">
                <a:solidFill>
                  <a:srgbClr val="1C1D22"/>
                </a:solidFill>
              </a:rPr>
              <a:t>Тот же SSO, что и в CRM: вход по одноразовому коду.</a:t>
            </a:r>
          </a:p>
        </p:txBody>
      </p:sp>
      <p:sp>
        <p:nvSpPr>
          <p:cNvPr id="1218894724" name="Текст 5"/>
          <p:cNvSpPr>
            <a:spLocks noGrp="1"/>
          </p:cNvSpPr>
          <p:nvPr>
            <p:ph type="body" sz="quarter" idx="22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 b="1" dirty="0">
                <a:solidFill>
                  <a:schemeClr val="accent5"/>
                </a:solidFill>
              </a:rPr>
              <a:t>Уведомления о переходах</a:t>
            </a:r>
          </a:p>
        </p:txBody>
      </p:sp>
      <p:sp>
        <p:nvSpPr>
          <p:cNvPr id="1233166073" name="Текст 6"/>
          <p:cNvSpPr>
            <a:spLocks noGrp="1"/>
          </p:cNvSpPr>
          <p:nvPr>
            <p:ph type="body" sz="quarter" idx="23"/>
          </p:nvPr>
        </p:nvSpPr>
        <p:spPr bwMode="auto"/>
        <p:txBody>
          <a:bodyPr/>
          <a:lstStyle/>
          <a:p>
            <a:pPr marL="0" indent="0">
              <a:buNone/>
            </a:pPr>
            <a:r>
              <a:rPr lang="ru-RU" sz="1150" dirty="0">
                <a:solidFill>
                  <a:srgbClr val="1C1D22"/>
                </a:solidFill>
              </a:rPr>
              <a:t>Смена статуса заявки мгновенно приходит в чат.</a:t>
            </a:r>
          </a:p>
        </p:txBody>
      </p:sp>
      <p:sp>
        <p:nvSpPr>
          <p:cNvPr id="1627124232" name="Текст 7"/>
          <p:cNvSpPr>
            <a:spLocks noGrp="1"/>
          </p:cNvSpPr>
          <p:nvPr>
            <p:ph type="body" sz="quarter" idx="24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 b="1" dirty="0">
                <a:solidFill>
                  <a:schemeClr val="accent5"/>
                </a:solidFill>
              </a:rPr>
              <a:t>Эскалация зависших заявок</a:t>
            </a:r>
          </a:p>
        </p:txBody>
      </p:sp>
      <p:sp>
        <p:nvSpPr>
          <p:cNvPr id="594633161" name="Текст 8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 marL="0" indent="0">
              <a:buNone/>
            </a:pPr>
            <a:r>
              <a:rPr lang="ru-RU" sz="1150" dirty="0">
                <a:solidFill>
                  <a:srgbClr val="1C1D22"/>
                </a:solidFill>
              </a:rPr>
              <a:t>Уходит руководителю; порог времени настраивается.</a:t>
            </a:r>
          </a:p>
        </p:txBody>
      </p:sp>
      <p:sp>
        <p:nvSpPr>
          <p:cNvPr id="1964702574" name="Текст 9"/>
          <p:cNvSpPr>
            <a:spLocks noGrp="1"/>
          </p:cNvSpPr>
          <p:nvPr>
            <p:ph type="body" sz="quarter" idx="26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 b="1" dirty="0">
                <a:solidFill>
                  <a:schemeClr val="accent5"/>
                </a:solidFill>
              </a:rPr>
              <a:t>/my · /stuck · /summary</a:t>
            </a:r>
          </a:p>
        </p:txBody>
      </p:sp>
      <p:sp>
        <p:nvSpPr>
          <p:cNvPr id="884516365" name="Текст 10"/>
          <p:cNvSpPr>
            <a:spLocks noGrp="1"/>
          </p:cNvSpPr>
          <p:nvPr>
            <p:ph type="body" sz="quarter" idx="27"/>
          </p:nvPr>
        </p:nvSpPr>
        <p:spPr bwMode="auto"/>
        <p:txBody>
          <a:bodyPr/>
          <a:lstStyle/>
          <a:p>
            <a:pPr marL="0" indent="0">
              <a:buNone/>
            </a:pPr>
            <a:r>
              <a:rPr lang="ru-RU" sz="1150" dirty="0">
                <a:solidFill>
                  <a:srgbClr val="1C1D22"/>
                </a:solidFill>
              </a:rPr>
              <a:t>Команды отвечают строго в рамках ролевой модели пользователя.</a:t>
            </a:r>
          </a:p>
        </p:txBody>
      </p:sp>
      <p:sp>
        <p:nvSpPr>
          <p:cNvPr id="1099655860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930" name="Скрин Telegram-бот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643" y="1598295"/>
            <a:ext cx="1683000" cy="3657600"/>
          </a:xfrm>
          <a:prstGeom prst="roundRect">
            <a:avLst>
              <a:gd name="adj" fmla="val 9000"/>
            </a:avLst>
          </a:prstGeom>
        </p:spPr>
      </p:pic>
      <p:grpSp>
        <p:nvGrpSpPr>
          <p:cNvPr id="1034340990" name="Группа 12"/>
          <p:cNvGrpSpPr/>
          <p:nvPr/>
        </p:nvGrpSpPr>
        <p:grpSpPr bwMode="auto">
          <a:xfrm>
            <a:off x="4951937" y="1208818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/>
            <p:cNvSpPr/>
            <p:nvPr/>
          </p:nvSpPr>
          <p:spPr bwMode="auto"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3" name="Рисунок 32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17324971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TELEGRAM-БОТ</a:t>
            </a:r>
          </a:p>
        </p:txBody>
      </p:sp>
      <p:sp>
        <p:nvSpPr>
          <p:cNvPr id="902" name="Адаптеры"/>
          <p:cNvSpPr txBox="1"/>
          <p:nvPr/>
        </p:nvSpPr>
        <p:spPr>
          <a:xfrm>
            <a:off x="346075" y="6100000"/>
            <a:ext cx="11500000" cy="320000"/>
          </a:xfrm>
          <a:prstGeom prst="rect">
            <a:avLst/>
          </a:prstGeom>
          <a:noFill/>
        </p:spPr>
        <p:txBody>
          <a:bodyPr rtlCol="0" anchor="t">
            <a:normAutofit/>
          </a:bodyPr>
          <a:lstStyle/>
          <a:p>
            <a:pPr algn="ctr">
              <a:buNone/>
            </a:pPr>
            <a:r>
              <a:rPr lang="ru-RU" sz="1100" dirty="0">
                <a:solidFill>
                  <a:srgbClr val="1C1D22"/>
                </a:solidFill>
              </a:rPr>
              <a:t>Каналы Max и Email — подключаемые адаптеры той же шины уведомлений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920140" name="Скругленный прямоугольник 1"/>
          <p:cNvSpPr/>
          <p:nvPr/>
        </p:nvSpPr>
        <p:spPr bwMode="auto">
          <a:xfrm>
            <a:off x="346075" y="324562"/>
            <a:ext cx="500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669354889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lms.localhost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2043882463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cms.localhost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59850212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0451759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400" b="1" dirty="0">
                <a:solidFill>
                  <a:schemeClr val="accent5"/>
                </a:solidFill>
              </a:rPr>
              <a:t>CRM ⇄ LMS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JSON-конверт как в ТЗ: статус, ответственный, вуз, программа, продукт + ключи БД и S3.</a:t>
            </a:r>
          </a:p>
        </p:txBody>
      </p:sp>
      <p:sp>
        <p:nvSpPr>
          <p:cNvPr id="1059197431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400" b="1" dirty="0">
                <a:solidFill>
                  <a:schemeClr val="accent5"/>
                </a:solidFill>
              </a:rPr>
              <a:t>CRM ⇄ CMS-сайт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HMAC-подписи · повторные попытки с DLQ · идентичный конверт в обе стороны.</a:t>
            </a:r>
          </a:p>
        </p:txBody>
      </p:sp>
      <p:sp>
        <p:nvSpPr>
          <p:cNvPr id="15485363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ДВУСТОРОННИЕ ИНТЕГРАЦИИ</a:t>
            </a:r>
          </a:p>
        </p:txBody>
      </p:sp>
      <p:sp>
        <p:nvSpPr>
          <p:cNvPr id="903" name="Окно LMS"/>
          <p:cNvSpPr txBox="1"/>
          <p:nvPr/>
        </p:nvSpPr>
        <p:spPr>
          <a:xfrm>
            <a:off x="1310642" y="2050000"/>
            <a:ext cx="3921688" cy="1500000"/>
          </a:xfrm>
          <a:prstGeom prst="rect">
            <a:avLst/>
          </a:prstGeom>
          <a:noFill/>
        </p:spPr>
        <p:txBody>
          <a:bodyPr rtlCol="0" anchor="ctr">
            <a:norm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ru-RU" sz="1400" b="1" dirty="0">
                <a:solidFill>
                  <a:schemeClr val="bg1"/>
                </a:solidFill>
              </a:rPr>
              <a:t>ЖИВАЯ ЗАГЛУШКА LMS</a:t>
            </a:r>
          </a:p>
          <a:p>
            <a:pPr algn="ctr">
              <a:spcAft>
                <a:spcPts val="200"/>
              </a:spcAft>
              <a:buNone/>
            </a:pPr>
            <a:r>
              <a:rPr lang="ru-RU" sz="1100" dirty="0">
                <a:solidFill>
                  <a:schemeClr val="bg1"/>
                </a:solidFill>
              </a:rPr>
              <a:t>кнопки запуска событий</a:t>
            </a:r>
          </a:p>
          <a:p>
            <a:pPr algn="ctr">
              <a:buNone/>
            </a:pPr>
            <a:r>
              <a:rPr lang="ru-RU" sz="1100" dirty="0">
                <a:solidFill>
                  <a:schemeClr val="bg1"/>
                </a:solidFill>
              </a:rPr>
              <a:t>для двусторонней демо-проверки</a:t>
            </a:r>
          </a:p>
        </p:txBody>
      </p:sp>
      <p:sp>
        <p:nvSpPr>
          <p:cNvPr id="904" name="Окно CMS"/>
          <p:cNvSpPr txBox="1"/>
          <p:nvPr/>
        </p:nvSpPr>
        <p:spPr>
          <a:xfrm>
            <a:off x="6955540" y="2050000"/>
            <a:ext cx="3921688" cy="1500000"/>
          </a:xfrm>
          <a:prstGeom prst="rect">
            <a:avLst/>
          </a:prstGeom>
          <a:noFill/>
        </p:spPr>
        <p:txBody>
          <a:bodyPr rtlCol="0" anchor="ctr">
            <a:norm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ru-RU" sz="1400" b="1" dirty="0">
                <a:solidFill>
                  <a:schemeClr val="bg1"/>
                </a:solidFill>
              </a:rPr>
              <a:t>ЖИВАЯ ЗАГЛУШКА CMS</a:t>
            </a:r>
          </a:p>
          <a:p>
            <a:pPr algn="ctr">
              <a:spcAft>
                <a:spcPts val="200"/>
              </a:spcAft>
              <a:buNone/>
            </a:pPr>
            <a:r>
              <a:rPr lang="ru-RU" sz="1100" dirty="0">
                <a:solidFill>
                  <a:schemeClr val="bg1"/>
                </a:solidFill>
              </a:rPr>
              <a:t>приём и отправка конверта</a:t>
            </a:r>
          </a:p>
          <a:p>
            <a:pPr algn="ctr">
              <a:buNone/>
            </a:pPr>
            <a:r>
              <a:rPr lang="ru-RU" sz="1100" dirty="0">
                <a:solidFill>
                  <a:schemeClr val="bg1"/>
                </a:solidFill>
              </a:rPr>
              <a:t>статусы возвращаются в CRM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25280" name="Скругленный прямоугольник 7"/>
          <p:cNvSpPr/>
          <p:nvPr/>
        </p:nvSpPr>
        <p:spPr bwMode="auto">
          <a:xfrm>
            <a:off x="7900000" y="3122006"/>
            <a:ext cx="3945924" cy="145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7900000" y="4722006"/>
            <a:ext cx="3945924" cy="13625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7900000" y="1522006"/>
            <a:ext cx="3945924" cy="145000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8075000" y="1952006"/>
            <a:ext cx="3600000" cy="320000"/>
          </a:xfrm>
        </p:spPr>
        <p:txBody>
          <a:bodyPr/>
          <a:lstStyle/>
          <a:p>
            <a:pPr marL="0" indent="0">
              <a:buNone/>
            </a:pPr>
            <a:r>
              <a:rPr lang="ru-RU" sz="1250" b="1" dirty="0">
                <a:solidFill>
                  <a:srgbClr val="F92571"/>
                </a:solidFill>
              </a:rPr>
              <a:t>Загрузка пользователей</a:t>
            </a: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8075000" y="2282006"/>
            <a:ext cx="3600000" cy="62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30 «грязных» колонок распознаны; образцы маскируются: «Ч***а», «+7 *** *** 43-65».</a:t>
            </a: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8075000" y="3552006"/>
            <a:ext cx="3600000" cy="320000"/>
          </a:xfrm>
        </p:spPr>
        <p:txBody>
          <a:bodyPr/>
          <a:lstStyle/>
          <a:p>
            <a:pPr marL="0" indent="0">
              <a:buNone/>
            </a:pPr>
            <a:r>
              <a:rPr lang="ru-RU" sz="1250" b="1" dirty="0">
                <a:solidFill>
                  <a:srgbClr val="F92571"/>
                </a:solidFill>
              </a:rPr>
              <a:t>Массив с пропусками</a:t>
            </a: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8075000" y="3882006"/>
            <a:ext cx="3600000" cy="62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null-элементы не роняют импорт: ошибки — построчно, остальные строки загружаются.</a:t>
            </a: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075000" y="5152006"/>
            <a:ext cx="3600000" cy="320000"/>
          </a:xfrm>
        </p:spPr>
        <p:txBody>
          <a:bodyPr/>
          <a:lstStyle/>
          <a:p>
            <a:pPr marL="0" indent="0">
              <a:buNone/>
            </a:pPr>
            <a:r>
              <a:rPr lang="ru-RU" sz="1250" b="1" dirty="0">
                <a:solidFill>
                  <a:srgbClr val="F92571"/>
                </a:solidFill>
              </a:rPr>
              <a:t>Вендоры</a:t>
            </a: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075000" y="5482006"/>
            <a:ext cx="3600000" cy="620000"/>
          </a:xfrm>
        </p:spPr>
        <p:txBody>
          <a:bodyPr/>
          <a:lstStyle/>
          <a:p>
            <a:pPr marL="0" indent="0">
              <a:buNone/>
            </a:pPr>
            <a:r>
              <a:rPr lang="ru-RU" sz="950" dirty="0">
                <a:solidFill>
                  <a:srgbClr val="1C1D22"/>
                </a:solidFill>
              </a:rPr>
              <a:t>Каталог продуктов РТК ложится в справочник CRM.</a:t>
            </a: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accent5"/>
                </a:solidFill>
              </a:rPr>
              <a:t>РАБОТАЕТ НА ДАННЫХ ОРГАНИЗАТОРОВ</a:t>
            </a: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8075000" y="1632006"/>
            <a:ext cx="3600000" cy="320000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.XLSX</a:t>
            </a: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8075000" y="3232006"/>
            <a:ext cx="3600000" cy="320000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.JSON</a:t>
            </a: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075000" y="4832006"/>
            <a:ext cx="3600000" cy="320000"/>
          </a:xfrm>
        </p:spPr>
        <p:txBody>
          <a:bodyPr/>
          <a:lstStyle/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.XLSX</a:t>
            </a:r>
          </a:p>
        </p:txBody>
      </p:sp>
      <p:sp>
        <p:nvSpPr>
          <p:cNvPr id="905" name="Сноска"/>
          <p:cNvSpPr txBox="1"/>
          <p:nvPr/>
        </p:nvSpPr>
        <p:spPr>
          <a:xfrm>
            <a:off x="623888" y="6280000"/>
            <a:ext cx="10944224" cy="430000"/>
          </a:xfrm>
          <a:prstGeom prst="rect">
            <a:avLst/>
          </a:prstGeom>
          <a:noFill/>
        </p:spPr>
        <p:txBody>
          <a:bodyPr rtlCol="0" anchor="t">
            <a:normAutofit/>
          </a:bodyPr>
          <a:lstStyle/>
          <a:p>
            <a:pPr>
              <a:buNone/>
            </a:pPr>
            <a:r>
              <a:rPr lang="ru-RU" sz="1000" b="1" dirty="0">
                <a:solidFill>
                  <a:srgbClr val="F92571"/>
                </a:solidFill>
              </a:rPr>
              <a:t>Показательно: </a:t>
            </a:r>
            <a:r>
              <a:rPr lang="ru-RU" sz="1000" dirty="0">
                <a:solidFill>
                  <a:srgbClr val="1C1D22"/>
                </a:solidFill>
              </a:rPr>
              <a:t>сам архив пришёл с именами файлов в битой cp866 — ровно тот случай кодировок, который лечит наш импорт. Больше снимков живого прогона — в docs/screenshots репозитория.</a:t>
            </a:r>
          </a:p>
        </p:txBody>
      </p:sp>
      <p:pic>
        <p:nvPicPr>
          <p:cNvPr id="912" name="Скриншот маппинг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6" y="1522006"/>
            <a:ext cx="7300000" cy="4562500"/>
          </a:xfrm>
          <a:prstGeom prst="roundRect">
            <a:avLst>
              <a:gd name="adj" fmla="val 2800"/>
            </a:avLst>
          </a:prstGeom>
          <a:ln w="12700">
            <a:solidFill>
              <a:srgbClr val="E5E7E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49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700"/>
              </a:spcAft>
              <a:buNone/>
            </a:pPr>
            <a:r>
              <a:rPr lang="ru-RU" sz="1400" b="1" dirty="0">
                <a:solidFill>
                  <a:srgbClr val="F92571"/>
                </a:solidFill>
              </a:rPr>
              <a:t>Технологии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FastAPI-монолит + сервисы: бот и заглушки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PostgreSQL · MinIO · KeyDB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Keycloak — SSO в своём контуре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React + TypeScript, ДС Ростелекома gen2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открытый стек в контуре заказчика</a:t>
            </a: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700"/>
              </a:spcAft>
              <a:buNone/>
            </a:pPr>
            <a:r>
              <a:rPr lang="ru-RU" sz="1400" b="1" dirty="0">
                <a:solidFill>
                  <a:srgbClr val="F92571"/>
                </a:solidFill>
              </a:rPr>
              <a:t>Kubernetes — весь стенд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k3d / minikube: полный контур локально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HPA · CronJob · kustomize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NetworkPolicy: запрет по умолчанию; DMZ для бота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поднимается одной командой make</a:t>
            </a: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700"/>
              </a:spcAft>
              <a:buNone/>
            </a:pPr>
            <a:r>
              <a:rPr lang="ru-RU" sz="1400" b="1" dirty="0">
                <a:solidFill>
                  <a:srgbClr val="F92571"/>
                </a:solidFill>
              </a:rPr>
              <a:t>Надёжность и 152-ФЗ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нагрузочное тестирование k6 — до 400 VU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шифрование и маскирование ПДн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аудит каждого раскрытия данных</a:t>
            </a:r>
          </a:p>
          <a:p>
            <a:pPr marL="171450" indent="-171450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050" dirty="0">
                <a:solidFill>
                  <a:srgbClr val="1C1D22"/>
                </a:solidFill>
              </a:rPr>
              <a:t>300+ одновременных пользователей</a:t>
            </a: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ТЕХНИЧЕСКАЯ ПРОРАБОТКА</a:t>
            </a:r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992849" name="Скругленный прямоугольник 11"/>
          <p:cNvSpPr/>
          <p:nvPr/>
        </p:nvSpPr>
        <p:spPr bwMode="auto"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01717518" name="Скругленный прямоугольник 13"/>
          <p:cNvSpPr/>
          <p:nvPr/>
        </p:nvSpPr>
        <p:spPr bwMode="auto"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39979220" name="Скругленный прямоугольник 14"/>
          <p:cNvSpPr/>
          <p:nvPr/>
        </p:nvSpPr>
        <p:spPr bwMode="auto"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26292102" name="Скругленный прямоугольник 15"/>
          <p:cNvSpPr/>
          <p:nvPr/>
        </p:nvSpPr>
        <p:spPr bwMode="auto"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47381707" name="Скругленный прямоугольник 9"/>
          <p:cNvSpPr/>
          <p:nvPr/>
        </p:nvSpPr>
        <p:spPr bwMode="auto">
          <a:xfrm>
            <a:off x="346075" y="324562"/>
            <a:ext cx="465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920" name="Экран телефона 1"/>
          <p:cNvPicPr>
            <a:picLocks noChangeAspect="1"/>
          </p:cNvPicPr>
          <p:nvPr/>
        </p:nvPicPr>
        <p:blipFill>
          <a:blip r:embed="rId4"/>
          <a:srcRect t="1050" b="1050"/>
          <a:stretch>
            <a:fillRect/>
          </a:stretch>
        </p:blipFill>
        <p:spPr>
          <a:xfrm>
            <a:off x="1044995" y="1139854"/>
            <a:ext cx="1726214" cy="3657600"/>
          </a:xfrm>
          <a:prstGeom prst="roundRect">
            <a:avLst>
              <a:gd name="adj" fmla="val 9000"/>
            </a:avLst>
          </a:prstGeom>
        </p:spPr>
      </p:pic>
      <p:pic>
        <p:nvPicPr>
          <p:cNvPr id="921" name="Экран телефона 2"/>
          <p:cNvPicPr>
            <a:picLocks noChangeAspect="1"/>
          </p:cNvPicPr>
          <p:nvPr/>
        </p:nvPicPr>
        <p:blipFill>
          <a:blip r:embed="rId5"/>
          <a:srcRect t="1050" b="1050"/>
          <a:stretch>
            <a:fillRect/>
          </a:stretch>
        </p:blipFill>
        <p:spPr>
          <a:xfrm>
            <a:off x="3770385" y="1139854"/>
            <a:ext cx="1726214" cy="3657600"/>
          </a:xfrm>
          <a:prstGeom prst="roundRect">
            <a:avLst>
              <a:gd name="adj" fmla="val 9000"/>
            </a:avLst>
          </a:prstGeom>
        </p:spPr>
      </p:pic>
      <p:pic>
        <p:nvPicPr>
          <p:cNvPr id="922" name="Экран телефона 3"/>
          <p:cNvPicPr>
            <a:picLocks noChangeAspect="1"/>
          </p:cNvPicPr>
          <p:nvPr/>
        </p:nvPicPr>
        <p:blipFill>
          <a:blip r:embed="rId6"/>
          <a:srcRect t="1050" b="1050"/>
          <a:stretch>
            <a:fillRect/>
          </a:stretch>
        </p:blipFill>
        <p:spPr>
          <a:xfrm>
            <a:off x="6752863" y="1144729"/>
            <a:ext cx="1726214" cy="3657600"/>
          </a:xfrm>
          <a:prstGeom prst="roundRect">
            <a:avLst>
              <a:gd name="adj" fmla="val 9000"/>
            </a:avLst>
          </a:prstGeom>
        </p:spPr>
      </p:pic>
      <p:pic>
        <p:nvPicPr>
          <p:cNvPr id="923" name="Экран телефона 4"/>
          <p:cNvPicPr>
            <a:picLocks noChangeAspect="1"/>
          </p:cNvPicPr>
          <p:nvPr/>
        </p:nvPicPr>
        <p:blipFill>
          <a:blip r:embed="rId7"/>
          <a:srcRect t="1050" b="1050"/>
          <a:stretch>
            <a:fillRect/>
          </a:stretch>
        </p:blipFill>
        <p:spPr>
          <a:xfrm>
            <a:off x="9621936" y="1120110"/>
            <a:ext cx="1726214" cy="3657600"/>
          </a:xfrm>
          <a:prstGeom prst="roundRect">
            <a:avLst>
              <a:gd name="adj" fmla="val 9000"/>
            </a:avLst>
          </a:prstGeom>
        </p:spPr>
      </p:pic>
      <p:sp>
        <p:nvSpPr>
          <p:cNvPr id="383451201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11</a:t>
            </a:fld>
            <a:endParaRPr lang="ru-RU"/>
          </a:p>
        </p:txBody>
      </p:sp>
      <p:sp>
        <p:nvSpPr>
          <p:cNvPr id="1911760827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449155" y="5035451"/>
            <a:ext cx="2658088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250" b="1" dirty="0">
                <a:solidFill>
                  <a:srgbClr val="1C1D22"/>
                </a:solidFill>
              </a:rPr>
              <a:t>Приветствие по ролям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Стартовый экран под роль сотрудника.</a:t>
            </a:r>
          </a:p>
        </p:txBody>
      </p:sp>
      <p:sp>
        <p:nvSpPr>
          <p:cNvPr id="1597198376" name="Текст 6"/>
          <p:cNvSpPr>
            <a:spLocks noGrp="1"/>
          </p:cNvSpPr>
          <p:nvPr>
            <p:ph type="body" sz="quarter" idx="19"/>
          </p:nvPr>
        </p:nvSpPr>
        <p:spPr bwMode="auto">
          <a:xfrm>
            <a:off x="3302624" y="5035451"/>
            <a:ext cx="2706185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250" b="1" dirty="0">
                <a:solidFill>
                  <a:srgbClr val="1C1D22"/>
                </a:solidFill>
              </a:rPr>
              <a:t>Обучающие туры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7 шагов по интерфейсу для КАМа.</a:t>
            </a:r>
          </a:p>
        </p:txBody>
      </p:sp>
      <p:sp>
        <p:nvSpPr>
          <p:cNvPr id="1566161436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204192" y="5035451"/>
            <a:ext cx="2728103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250" b="1" dirty="0">
                <a:solidFill>
                  <a:srgbClr val="1C1D22"/>
                </a:solidFill>
              </a:rPr>
              <a:t>Контрольный список «Начало работы»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Пошаговый старт в системе.</a:t>
            </a:r>
          </a:p>
        </p:txBody>
      </p:sp>
      <p:sp>
        <p:nvSpPr>
          <p:cNvPr id="933697724" name="Текст 8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5035451"/>
            <a:ext cx="2739248" cy="127134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ru-RU" sz="1250" b="1" dirty="0">
                <a:solidFill>
                  <a:srgbClr val="1C1D22"/>
                </a:solidFill>
              </a:rPr>
              <a:t>Анимации и иллюстрации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1C1D22"/>
                </a:solidFill>
              </a:rPr>
              <a:t>12 фирменных иллюстраций; анимация уважает системные настройки.</a:t>
            </a:r>
          </a:p>
        </p:txBody>
      </p:sp>
      <p:grpSp>
        <p:nvGrpSpPr>
          <p:cNvPr id="1281848952" name="Группа 121"/>
          <p:cNvGrpSpPr/>
          <p:nvPr/>
        </p:nvGrpSpPr>
        <p:grpSpPr bwMode="auto"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87578292" name="Группа 146"/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67" name="Рисунок 16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225743507" name="Группа 171"/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92" name="Рисунок 19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376092761" name="Группа 196"/>
          <p:cNvGrpSpPr/>
          <p:nvPr/>
        </p:nvGrpSpPr>
        <p:grpSpPr bwMode="auto"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217" name="Рисунок 21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05511677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АДАПТАЦИЯ СОТРУДНИКОВ</a:t>
            </a:r>
          </a:p>
        </p:txBody>
      </p:sp>
      <p:sp>
        <p:nvSpPr>
          <p:cNvPr id="906" name="Клейм"/>
          <p:cNvSpPr txBox="1"/>
          <p:nvPr/>
        </p:nvSpPr>
        <p:spPr>
          <a:xfrm>
            <a:off x="346075" y="6440000"/>
            <a:ext cx="11000000" cy="320000"/>
          </a:xfrm>
          <a:prstGeom prst="rect">
            <a:avLst/>
          </a:prstGeom>
          <a:noFill/>
        </p:spPr>
        <p:txBody>
          <a:bodyPr rtlCol="0" anchor="t">
            <a:normAutofit/>
          </a:bodyPr>
          <a:lstStyle/>
          <a:p>
            <a:pPr marL="0" indent="0" algn="ctr">
              <a:buNone/>
            </a:pPr>
            <a:r>
              <a:rPr lang="ru-RU" sz="1200" i="1" dirty="0">
                <a:solidFill>
                  <a:schemeClr val="bg1"/>
                </a:solidFill>
              </a:rPr>
              <a:t>Новые сотрудники входят в работу без обучения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accent5"/>
                </a:solidFill>
              </a:rPr>
              <a:t>СЛОЖНОСТИ И ВЫЗОВЫ</a:t>
            </a: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150000" cy="712587"/>
          </a:xfrm>
        </p:spPr>
        <p:txBody>
          <a:bodyPr/>
          <a:lstStyle/>
          <a:p>
            <a:pPr marL="0" indent="0">
              <a:spcAft>
                <a:spcPts val="300"/>
              </a:spcAft>
              <a:buNone/>
            </a:pPr>
            <a:r>
              <a:rPr lang="ru-RU" sz="1300" b="1" dirty="0">
                <a:solidFill>
                  <a:srgbClr val="1C1D22"/>
                </a:solidFill>
              </a:rPr>
              <a:t>Интеграции без внешнего контракта.</a:t>
            </a:r>
          </a:p>
          <a:p>
            <a:pPr marL="0" indent="0">
              <a:buNone/>
            </a:pPr>
            <a:r>
              <a:rPr lang="ru-RU" sz="1150" dirty="0">
                <a:solidFill>
                  <a:srgbClr val="5A5B63"/>
                </a:solidFill>
              </a:rPr>
              <a:t>Сами спроектировали JSON-конверт и живые заглушки с двусторонней проверкой.</a:t>
            </a: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150000" cy="712587"/>
          </a:xfrm>
        </p:spPr>
        <p:txBody>
          <a:bodyPr/>
          <a:lstStyle/>
          <a:p>
            <a:pPr marL="0" indent="0">
              <a:spcAft>
                <a:spcPts val="300"/>
              </a:spcAft>
              <a:buNone/>
            </a:pPr>
            <a:r>
              <a:rPr lang="ru-RU" sz="1300" b="1" dirty="0">
                <a:solidFill>
                  <a:srgbClr val="1C1D22"/>
                </a:solidFill>
              </a:rPr>
              <a:t>Изменение процесса на живых заявках.</a:t>
            </a:r>
          </a:p>
          <a:p>
            <a:pPr marL="0" indent="0">
              <a:buNone/>
            </a:pPr>
            <a:r>
              <a:rPr lang="ru-RU" sz="1150" dirty="0">
                <a:solidFill>
                  <a:srgbClr val="5A5B63"/>
                </a:solidFill>
              </a:rPr>
              <a:t>Advisory-блокировки PostgreSQL и атомарная миграция заявок между версиями схемы.</a:t>
            </a: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150000" cy="712587"/>
          </a:xfrm>
        </p:spPr>
        <p:txBody>
          <a:bodyPr/>
          <a:lstStyle/>
          <a:p>
            <a:pPr marL="0" indent="0">
              <a:spcAft>
                <a:spcPts val="300"/>
              </a:spcAft>
              <a:buNone/>
            </a:pPr>
            <a:r>
              <a:rPr lang="ru-RU" sz="1300" b="1" dirty="0">
                <a:solidFill>
                  <a:srgbClr val="1C1D22"/>
                </a:solidFill>
              </a:rPr>
              <a:t>Secure context для PKCE в закрытом контуре.</a:t>
            </a:r>
          </a:p>
          <a:p>
            <a:pPr marL="0" indent="0">
              <a:buNone/>
            </a:pPr>
            <a:r>
              <a:rPr lang="ru-RU" sz="1150" dirty="0">
                <a:solidFill>
                  <a:srgbClr val="5A5B63"/>
                </a:solidFill>
              </a:rPr>
              <a:t>Решение через *.localhost и выделенную DMZ.</a:t>
            </a: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150000" cy="712587"/>
          </a:xfrm>
        </p:spPr>
        <p:txBody>
          <a:bodyPr/>
          <a:lstStyle/>
          <a:p>
            <a:pPr marL="0" indent="0">
              <a:spcAft>
                <a:spcPts val="300"/>
              </a:spcAft>
              <a:buNone/>
            </a:pPr>
            <a:r>
              <a:rPr lang="ru-RU" sz="1300" b="1" dirty="0">
                <a:solidFill>
                  <a:srgbClr val="1C1D22"/>
                </a:solidFill>
              </a:rPr>
              <a:t>Битые кодировки реальных выгрузок.</a:t>
            </a:r>
          </a:p>
          <a:p>
            <a:pPr marL="0" indent="0">
              <a:buNone/>
            </a:pPr>
            <a:r>
              <a:rPr lang="ru-RU" sz="1150" dirty="0">
                <a:solidFill>
                  <a:srgbClr val="5A5B63"/>
                </a:solidFill>
              </a:rPr>
              <a:t>Цепочка автоопределения: cp1251, koi8-r, cp866.</a:t>
            </a: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/>
          <a:lstStyle/>
          <a:p>
            <a:pPr marL="0" indent="0">
              <a:buNone/>
            </a:pPr>
            <a:endParaRPr/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27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lang="ru-RU" sz="1300" b="1" dirty="0">
                <a:solidFill>
                  <a:srgbClr val="F92571"/>
                </a:solidFill>
              </a:rPr>
              <a:t>Смена процесса не останавливает работу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Миграция заявок на лету при изменении схемы — с защитой от дурака и подтверждением администратора.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300" b="1" dirty="0">
                <a:solidFill>
                  <a:srgbClr val="F92571"/>
                </a:solidFill>
              </a:rPr>
              <a:t>Весь стенд из одной команды make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make k8s-up — и полный контур в Kubernetes поднят: от БД до бота.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lang="ru-RU" sz="1300" b="1" dirty="0">
                <a:solidFill>
                  <a:srgbClr val="F92571"/>
                </a:solidFill>
              </a:rPr>
              <a:t>Пул талантов</a:t>
            </a:r>
            <a:br>
              <a:rPr lang="ru-RU" sz="1300" b="1" dirty="0">
                <a:solidFill>
                  <a:srgbClr val="F92571"/>
                </a:solidFill>
              </a:rPr>
            </a:br>
            <a:r>
              <a:rPr lang="ru-RU" sz="1300" b="1" dirty="0">
                <a:solidFill>
                  <a:srgbClr val="F92571"/>
                </a:solidFill>
              </a:rPr>
              <a:t>под 152-ФЗ</a:t>
            </a: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Спроектировано под 152-ФЗ и приказ ФСТЭК № 117: шифрование Fernet, маскирование ПДн, аудит раскрытий. Аттестация — в контуре заказчика.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lang="ru-RU" sz="1300" b="1" dirty="0">
                <a:solidFill>
                  <a:srgbClr val="F92571"/>
                </a:solidFill>
              </a:rPr>
              <a:t>Адаптация как часть продукта</a:t>
            </a: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Приветствие по ролям, туры и контрольный список — сотрудники стартуют без обучения.</a:t>
            </a: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УНИКАЛЬНОСТЬ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2263553" cy="560000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2263553" cy="560000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2263553" cy="560000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2263553" cy="560000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>
                <a:solidFill>
                  <a:schemeClr val="accent5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587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Сделано по замечаниям экспертов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ru-RU" sz="1100" dirty="0">
                <a:solidFill>
                  <a:srgbClr val="1C1D22"/>
                </a:solidFill>
              </a:rPr>
              <a:t>Каждый пункт — в коде и в тестах; цифры перевода — из замера на PostgreSQL 16.</a:t>
            </a:r>
          </a:p>
          <a:p>
            <a:pPr marL="171450" indent="-171450" algn="l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150" dirty="0" b="1">
                <a:solidFill>
                  <a:srgbClr val="1C1D22"/>
                </a:solidFill>
              </a:rPr>
              <a:t>Аналитика активности КАМов: </a:t>
            </a:r>
            <a:r>
              <a:rPr lang="ru-RU" sz="1150" dirty="0">
                <a:solidFill>
                  <a:srgbClr val="1C1D22"/>
                </a:solidFill>
              </a:rPr>
              <a:t>кто, за какой период, с какими вузами работал и на каком этапе остановился; детализация руководителю, сводка заказчику, XLSX и PDF</a:t>
            </a:r>
          </a:p>
          <a:p>
            <a:pPr marL="171450" indent="-171450" algn="l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150" dirty="0" b="1">
                <a:solidFill>
                  <a:srgbClr val="1C1D22"/>
                </a:solidFill>
              </a:rPr>
              <a:t>Роли без программиста: </a:t>
            </a:r>
            <a:r>
              <a:rPr lang="ru-RU" sz="1150" dirty="0">
                <a:solidFill>
                  <a:srgbClr val="1C1D22"/>
                </a:solidFill>
              </a:rPr>
              <a:t>61 право, области B2B и B2C; новые роли собираются в интерфейсе</a:t>
            </a:r>
          </a:p>
          <a:p>
            <a:pPr marL="171450" indent="-171450" algn="l">
              <a:spcAft>
                <a:spcPts val="450"/>
              </a:spcAft>
              <a:buClr>
                <a:srgbClr val="F92571"/>
              </a:buClr>
              <a:buChar char="•"/>
            </a:pPr>
            <a:r>
              <a:rPr lang="ru-RU" sz="1150" dirty="0" b="1">
                <a:solidFill>
                  <a:srgbClr val="1C1D22"/>
                </a:solidFill>
              </a:rPr>
              <a:t>Пакетный перевод заявок: </a:t>
            </a:r>
            <a:r>
              <a:rPr lang="ru-RU" sz="1150" dirty="0">
                <a:solidFill>
                  <a:srgbClr val="1C1D22"/>
                </a:solidFill>
              </a:rPr>
              <a:t>10 000 — за 0,6 с вместо 25 с, 50 000 — за 3 с вместо 130 с; КАМу одна сводка вместо сотен уведомлений</a:t>
            </a:r>
          </a:p>
          <a:p>
            <a:pPr marL="171450" indent="-171450" algn="l">
              <a:spcAft>
                <a:spcPts val="700"/>
              </a:spcAft>
              <a:buClr>
                <a:srgbClr val="F92571"/>
              </a:buClr>
              <a:buChar char="•"/>
            </a:pPr>
            <a:r>
              <a:rPr lang="ru-RU" sz="1150" dirty="0" b="1">
                <a:solidFill>
                  <a:srgbClr val="1C1D22"/>
                </a:solidFill>
              </a:rPr>
              <a:t>Блокировка — есть и короткая: </a:t>
            </a:r>
            <a:r>
              <a:rPr lang="ru-RU" sz="1150" dirty="0">
                <a:solidFill>
                  <a:srgbClr val="1C1D22"/>
                </a:solidFill>
              </a:rPr>
              <a:t>эксклюзивный лок процесса на время переноса; параллельный переход ждёт и проходит — без deadlock и потерь</a:t>
            </a:r>
          </a:p>
          <a:p>
            <a:pPr marL="0" indent="0" algn="l">
              <a:buNone/>
            </a:pPr>
            <a:r>
              <a:rPr lang="ru-RU" sz="1100" b="1" dirty="0">
                <a:solidFill>
                  <a:srgbClr val="F92571"/>
                </a:solidFill>
              </a:rPr>
              <a:t>«Работа не встаёт» — и при переводе 50 000 заявок.</a:t>
            </a: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Без дублей</a:t>
            </a:r>
            <a:r>
              <a:rPr lang="ru-RU" sz="1200" dirty="0">
                <a:solidFill>
                  <a:srgbClr val="1C1D22"/>
                </a:solidFill>
              </a:rPr>
              <a:t> — Idempotency-Key: повтор запроса возвращает первый ответ, вторая запись не создаётся</a:t>
            </a: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Файлы в статусах</a:t>
            </a:r>
            <a:r>
              <a:rPr lang="ru-RU" sz="1200" dirty="0">
                <a:solidFill>
                  <a:srgbClr val="1C1D22"/>
                </a:solidFill>
              </a:rPr>
              <a:t> — вложения к переходу этапа: 10 форматов с проверкой сигнатуры</a:t>
            </a: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ИТ-направления</a:t>
            </a:r>
            <a:r>
              <a:rPr lang="ru-RU" sz="1200" dirty="0">
                <a:solidFill>
                  <a:srgbClr val="1C1D22"/>
                </a:solidFill>
              </a:rPr>
              <a:t> — справочник и фильтр в аналитике, отчётах и выгрузках</a:t>
            </a: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Мобильный веб от 375 px</a:t>
            </a:r>
            <a:r>
              <a:rPr lang="ru-RU" sz="1200" dirty="0">
                <a:solidFill>
                  <a:srgbClr val="1C1D22"/>
                </a:solidFill>
              </a:rPr>
              <a:t> — адаптивный интерфейс без отдельного приложения</a:t>
            </a: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200" b="1" dirty="0">
                <a:solidFill>
                  <a:srgbClr val="1C1D22"/>
                </a:solidFill>
              </a:rPr>
              <a:t>Интеграции без KeyDB Streams</a:t>
            </a:r>
            <a:r>
              <a:rPr lang="ru-RU" sz="1200" dirty="0">
                <a:solidFill>
                  <a:srgbClr val="1C1D22"/>
                </a:solidFill>
              </a:rPr>
              <a:t> — outbox в PostgreSQL, HTTP с HMAC-подписью, повторы и DLQ</a:t>
            </a: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ПОСЛЕ ЭКСПЕРТНОЙ СЕССИИ 16.10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767918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chemeClr val="accent5"/>
                </a:solidFill>
              </a:rPr>
              <a:t>СПАСИБО!</a:t>
            </a:r>
          </a:p>
        </p:txBody>
      </p:sp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spcAft>
                <a:spcPts val="90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Альма — CRM взаимодействия с вузами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ru-RU" sz="1300" b="1" dirty="0">
                <a:solidFill>
                  <a:srgbClr val="1C1D22"/>
                </a:solidFill>
              </a:rPr>
              <a:t>Команда «Collabse»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ru-RU" sz="1200" dirty="0">
                <a:solidFill>
                  <a:srgbClr val="1C1D22"/>
                </a:solidFill>
              </a:rPr>
              <a:t>Илья Рябухин — капитан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ru-RU" sz="1200" dirty="0">
                <a:solidFill>
                  <a:srgbClr val="F92571"/>
                </a:solidFill>
              </a:rPr>
              <a:t>ryabukhiny1305@gmail.com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ru-RU" sz="1200" b="1" dirty="0">
                <a:solidFill>
                  <a:srgbClr val="1C1D22"/>
                </a:solidFill>
              </a:rPr>
              <a:t>Репозиторий: </a:t>
            </a:r>
            <a:r>
              <a:rPr lang="en-GB" sz="1200" dirty="0">
                <a:solidFill>
                  <a:srgbClr val="1C1D22"/>
                </a:solidFill>
                <a:hlinkClick r:id="rId4"/>
              </a:rPr>
              <a:t>https://github.com/ilya2108/Collabse-LCT-Alma</a:t>
            </a:r>
            <a:endParaRPr lang="ru-RU" sz="1200" dirty="0">
              <a:solidFill>
                <a:srgbClr val="1C1D22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ru-RU" sz="1200" b="1" dirty="0">
                <a:solidFill>
                  <a:srgbClr val="1C1D22"/>
                </a:solidFill>
              </a:rPr>
              <a:t>Демо-стенд: </a:t>
            </a:r>
            <a:r>
              <a:rPr lang="en-GB" sz="1200" dirty="0">
                <a:solidFill>
                  <a:srgbClr val="F92571"/>
                </a:solidFill>
              </a:rPr>
              <a:t>https://crm.168-113-158-10.nip.io</a:t>
            </a:r>
            <a:endParaRPr lang="ru-RU" sz="1200" dirty="0">
              <a:solidFill>
                <a:srgbClr val="F9257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ru-RU" sz="1100" dirty="0">
                <a:solidFill>
                  <a:srgbClr val="1C1D22"/>
                </a:solidFill>
              </a:rPr>
              <a:t>Задача: CRM-система взаимодействия с вузами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C1D22"/>
                </a:solidFill>
              </a:rPr>
              <a:t>Постановщик — ООО «Ростелеком Информационные Технологии»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960</Words>
  <Application>Microsoft Macintosh PowerPoint</Application>
  <PresentationFormat>Widescreen</PresentationFormat>
  <Paragraphs>188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АЛЬМА CRM ВЗАИМОДЕЙСТВИЯ С ВУЗАМИ</vt:lpstr>
      <vt:lpstr>КОМАНДА «КОЛЛАПС»</vt:lpstr>
      <vt:lpstr>ЗАДАЧА И БОЛЬ</vt:lpstr>
      <vt:lpstr>АЛЬМА — CRM С WORKFLOW-ДВИЖКОМ</vt:lpstr>
      <vt:lpstr>КОР-ФУНКЦИОНАЛ АЛЬМЫ</vt:lpstr>
      <vt:lpstr>TALENT POOL — ВОРОНКА СТУДЕНТОВ</vt:lpstr>
      <vt:lpstr>TELEGRAM-БОТ</vt:lpstr>
      <vt:lpstr>ДВУСТОРОННИЕ ИНТЕГРАЦИИ</vt:lpstr>
      <vt:lpstr>РАБОТАЕТ НА ДАННЫХ ОРГАНИЗАТОРОВ</vt:lpstr>
      <vt:lpstr>ТЕХНИЧЕСКАЯ ПРОРАБОТКА</vt:lpstr>
      <vt:lpstr>UX И ОНБОРДИНГ СОТРУДНИКОВ</vt:lpstr>
      <vt:lpstr>СЛОЖНОСТИ И ВЫЗОВЫ</vt:lpstr>
      <vt:lpstr>УНИКАЛЬНОСТЬ</vt:lpstr>
      <vt:lpstr>ПЛАН РАЗВИТИЯ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Ilya Ryabukhin</cp:lastModifiedBy>
  <cp:revision>99</cp:revision>
  <dcterms:created xsi:type="dcterms:W3CDTF">2023-05-15T07:36:23Z</dcterms:created>
  <dcterms:modified xsi:type="dcterms:W3CDTF">2026-09-29T19:51:24Z</dcterms:modified>
</cp:coreProperties>
</file>